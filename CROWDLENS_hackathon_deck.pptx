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PROBLEM &amp; INDIAN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93A3"/>
                </a:solidFill>
                <a:latin typeface="Consolas"/>
              </a:rPr>
              <a:t>01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66928"/>
            <a:ext cx="256032" cy="18288"/>
          </a:xfrm>
          <a:prstGeom prst="roundRect">
            <a:avLst>
              <a:gd name="adj" fmla="val 6000"/>
            </a:avLst>
          </a:prstGeom>
          <a:solidFill>
            <a:srgbClr val="0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101722"/>
                </a:solidFill>
                <a:latin typeface="Bahnschrift"/>
              </a:rPr>
              <a:t>Why Crowd Safety Needs Prediction, Not Just Surveillance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97510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27048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00" b="1" i="0">
                <a:solidFill>
                  <a:srgbClr val="8A93A3"/>
                </a:solidFill>
                <a:latin typeface="Consolas"/>
              </a:rPr>
              <a:t>JUL 2024 · TEMPLE / SATSANG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46504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 i="0">
                <a:solidFill>
                  <a:srgbClr val="DC2626"/>
                </a:solidFill>
                <a:latin typeface="Bahnschrift"/>
              </a:rPr>
              <a:t>121 dead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67128"/>
            <a:ext cx="1755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15C6E"/>
                </a:solidFill>
                <a:latin typeface="Segoe UI"/>
              </a:rPr>
              <a:t>Hathras, UP — ~250k attended vs. ~80k permitted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94436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Wikipedia — 2024 Hathras crowd crush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9464" y="1417320"/>
            <a:ext cx="197510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527048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00" b="1" i="0">
                <a:solidFill>
                  <a:srgbClr val="8A93A3"/>
                </a:solidFill>
                <a:latin typeface="Consolas"/>
              </a:rPr>
              <a:t>JAN 2025 · TEMPLE FESTIVAL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1746504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 i="0">
                <a:solidFill>
                  <a:srgbClr val="DC2626"/>
                </a:solidFill>
                <a:latin typeface="Bahnschrift"/>
              </a:rPr>
              <a:t>6 dead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2167128"/>
            <a:ext cx="1755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15C6E"/>
                </a:solidFill>
                <a:latin typeface="Segoe UI"/>
              </a:rPr>
              <a:t>Tirupati — crush while queuing for darshan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294436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Oneindia News, Jan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6008" y="1417320"/>
            <a:ext cx="197510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1527048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00" b="1" i="0">
                <a:solidFill>
                  <a:srgbClr val="8A93A3"/>
                </a:solidFill>
                <a:latin typeface="Consolas"/>
              </a:rPr>
              <a:t>JAN 2025 · TEMPLE FESTIVAL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746504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 i="0">
                <a:solidFill>
                  <a:srgbClr val="DC2626"/>
                </a:solidFill>
                <a:latin typeface="Bahnschrift"/>
              </a:rPr>
              <a:t>30+ dead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2167128"/>
            <a:ext cx="1755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15C6E"/>
                </a:solidFill>
                <a:latin typeface="Segoe UI"/>
              </a:rPr>
              <a:t>Prayagraj Maha Kumbh Mela — Mauni Amavasya crush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5736" y="294436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Al Jazeera, 29 Jan 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2552" y="1417320"/>
            <a:ext cx="197510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527048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00" b="1" i="0">
                <a:solidFill>
                  <a:srgbClr val="8A93A3"/>
                </a:solidFill>
                <a:latin typeface="Consolas"/>
              </a:rPr>
              <a:t>FEB 2025 · PUBLIC / TRANSIT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746504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 i="0">
                <a:solidFill>
                  <a:srgbClr val="DC2626"/>
                </a:solidFill>
                <a:latin typeface="Bahnschrift"/>
              </a:rPr>
              <a:t>18 dead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167128"/>
            <a:ext cx="1755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15C6E"/>
                </a:solidFill>
                <a:latin typeface="Segoe UI"/>
              </a:rPr>
              <a:t>New Delhi Railway Station — footbridge surge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94436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PBS NewsHour, 16 Feb 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9096" y="1417320"/>
            <a:ext cx="197510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78824" y="1527048"/>
            <a:ext cx="17556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00" b="1" i="0">
                <a:solidFill>
                  <a:srgbClr val="8A93A3"/>
                </a:solidFill>
                <a:latin typeface="Consolas"/>
              </a:rPr>
              <a:t>JUN 2025 · STADIUM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1746504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 i="0">
                <a:solidFill>
                  <a:srgbClr val="DC2626"/>
                </a:solidFill>
                <a:latin typeface="Bahnschrift"/>
              </a:rPr>
              <a:t>11 dead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2167128"/>
            <a:ext cx="1755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15C6E"/>
                </a:solidFill>
                <a:latin typeface="Segoe UI"/>
              </a:rPr>
              <a:t>Bengaluru, Chinnaswamy Stadium — 35k cap. vs ~3 lakh crowd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294436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Wikipedia — 2025 Bengaluru crowd crush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337560"/>
            <a:ext cx="101955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344728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00" b="1" i="0">
                <a:solidFill>
                  <a:srgbClr val="8A93A3"/>
                </a:solidFill>
                <a:latin typeface="Consolas"/>
              </a:rPr>
              <a:t>SEP 2025 · POLITICAL RALLY / PROCESSION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" y="366674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 i="0">
                <a:solidFill>
                  <a:srgbClr val="DC2626"/>
                </a:solidFill>
                <a:latin typeface="Bahnschrift"/>
              </a:rPr>
              <a:t>41 dead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370332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515C6E"/>
                </a:solidFill>
                <a:latin typeface="Segoe UI"/>
              </a:rPr>
              <a:t>Karur, Tamil Nadu — crowd trailing a delayed roadshow, ~100 injured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7216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Wikipedia — 2025 Karur crowd crush</a:t>
            </a:r>
          </a:p>
        </p:txBody>
      </p:sp>
      <p:pic>
        <p:nvPicPr>
          <p:cNvPr id="37" name="Picture 36" descr="temple.jpg.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434840"/>
            <a:ext cx="2880360" cy="1691640"/>
          </a:xfrm>
          <a:prstGeom prst="rect">
            <a:avLst/>
          </a:prstGeom>
          <a:ln w="12700">
            <a:solidFill>
              <a:srgbClr val="DBE1EB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7818120" y="614476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00" b="0" i="1">
                <a:solidFill>
                  <a:srgbClr val="8A93A3"/>
                </a:solidFill>
                <a:latin typeface="Consolas"/>
              </a:rPr>
              <a:t>Temple chariot festival, Tamil Nadu (illustrative)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434840"/>
            <a:ext cx="32461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ctv.jpg.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90288"/>
            <a:ext cx="868680" cy="868680"/>
          </a:xfrm>
          <a:prstGeom prst="rect">
            <a:avLst/>
          </a:prstGeom>
          <a:ln w="12700">
            <a:solidFill>
              <a:srgbClr val="DBE1EB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1664208" y="46177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100" b="1" i="0">
                <a:solidFill>
                  <a:srgbClr val="0B7485"/>
                </a:solidFill>
                <a:latin typeface="Bahnschrift"/>
              </a:rPr>
              <a:t>551,500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64208" y="498348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515C6E"/>
                </a:solidFill>
                <a:latin typeface="Segoe UI"/>
              </a:rPr>
              <a:t>CCTV cameras in Delhi alone — among the most surveilled cities on earth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6235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ThePrint / Comparitech surveillance index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80644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Hyderabad tops global camera density at 79/1000 people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86200" y="4434840"/>
            <a:ext cx="3794760" cy="1691640"/>
          </a:xfrm>
          <a:prstGeom prst="roundRect">
            <a:avLst>
              <a:gd name="adj" fmla="val 6000"/>
            </a:avLst>
          </a:prstGeom>
          <a:solidFill>
            <a:srgbClr val="E4F3F5"/>
          </a:solidFill>
          <a:ln w="15875">
            <a:solidFill>
              <a:srgbClr val="0B7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9080" y="45720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1722"/>
                </a:solidFill>
                <a:latin typeface="Bahnschrift"/>
              </a:rPr>
              <a:t>The problem is not the lack of </a:t>
            </a:r>
            <a:r>
              <a:rPr sz="1500" b="1" i="0">
                <a:solidFill>
                  <a:srgbClr val="0B7485"/>
                </a:solidFill>
                <a:latin typeface="Bahnschrift"/>
              </a:rPr>
              <a:t>cameras.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1722"/>
                </a:solidFill>
                <a:latin typeface="Bahnschrift"/>
              </a:rPr>
              <a:t>The problem is the lack of </a:t>
            </a:r>
            <a:r>
              <a:rPr sz="1500" b="1" i="0">
                <a:solidFill>
                  <a:srgbClr val="0B7485"/>
                </a:solidFill>
                <a:latin typeface="Bahnschrift"/>
              </a:rPr>
              <a:t>intelligence</a:t>
            </a:r>
            <a:r>
              <a:rPr sz="1500" b="1" i="0">
                <a:solidFill>
                  <a:srgbClr val="101722"/>
                </a:solidFill>
                <a:latin typeface="Bahnschrift"/>
              </a:rPr>
              <a:t> on top of those cameras.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PROBLEM DRIVERS &amp; CROWD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93A3"/>
                </a:solidFill>
                <a:latin typeface="Consolas"/>
              </a:rPr>
              <a:t>02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66928"/>
            <a:ext cx="256032" cy="18288"/>
          </a:xfrm>
          <a:prstGeom prst="roundRect">
            <a:avLst>
              <a:gd name="adj" fmla="val 6000"/>
            </a:avLst>
          </a:prstGeom>
          <a:solidFill>
            <a:srgbClr val="0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101722"/>
                </a:solidFill>
                <a:latin typeface="Bahnschrift"/>
              </a:rPr>
              <a:t>Understanding Why Crowds Become Dangerous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515C6E"/>
                </a:solidFill>
                <a:latin typeface="Consolas"/>
              </a:rPr>
              <a:t>A — PROBLEM DRIVERS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21284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737360"/>
            <a:ext cx="1956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01722"/>
                </a:solidFill>
                <a:latin typeface="Segoe UI"/>
              </a:rPr>
              <a:t>Crowd aggregation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737360"/>
            <a:ext cx="221284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5224" y="1737360"/>
            <a:ext cx="1956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01722"/>
                </a:solidFill>
                <a:latin typeface="Segoe UI"/>
              </a:rPr>
              <a:t>Constrained spaces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95728"/>
            <a:ext cx="221284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395728"/>
            <a:ext cx="1956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01722"/>
                </a:solidFill>
                <a:latin typeface="Segoe UI"/>
              </a:rPr>
              <a:t>Bottlenecks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2395728"/>
            <a:ext cx="221284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5224" y="2395728"/>
            <a:ext cx="1956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01722"/>
                </a:solidFill>
                <a:latin typeface="Segoe UI"/>
              </a:rPr>
              <a:t>Inflow &gt; Outflow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54096"/>
            <a:ext cx="221284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54096"/>
            <a:ext cx="1956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01722"/>
                </a:solidFill>
                <a:latin typeface="Segoe UI"/>
              </a:rPr>
              <a:t>Sudden disturbances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3054096"/>
            <a:ext cx="221284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3054096"/>
            <a:ext cx="1956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01722"/>
                </a:solidFill>
                <a:latin typeface="Segoe UI"/>
              </a:rPr>
              <a:t>Competing crowd 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12464"/>
            <a:ext cx="221284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3712464"/>
            <a:ext cx="1956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01722"/>
                </a:solidFill>
                <a:latin typeface="Segoe UI"/>
              </a:rPr>
              <a:t>Age / vulnerability mix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07208" y="3712464"/>
            <a:ext cx="221284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35224" y="3712464"/>
            <a:ext cx="19568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101722"/>
                </a:solidFill>
                <a:latin typeface="Segoe UI"/>
              </a:rPr>
              <a:t>Infrastructure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3716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515C6E"/>
                </a:solidFill>
                <a:latin typeface="Consolas"/>
              </a:rPr>
              <a:t>B — CROWD SPATIAL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1737360"/>
            <a:ext cx="162763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59" y="1847088"/>
            <a:ext cx="144475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01722"/>
                </a:solidFill>
                <a:latin typeface="Segoe UI"/>
              </a:rPr>
              <a:t>Open / dispersive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51192" y="1737360"/>
            <a:ext cx="162763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2631" y="1847088"/>
            <a:ext cx="144475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01722"/>
                </a:solidFill>
                <a:latin typeface="Segoe UI"/>
              </a:rPr>
              <a:t>Unidirectional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0264" y="1737360"/>
            <a:ext cx="162763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1704" y="1847088"/>
            <a:ext cx="144475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01722"/>
                </a:solidFill>
                <a:latin typeface="Segoe UI"/>
              </a:rPr>
              <a:t>Multidirectional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2788920"/>
            <a:ext cx="162763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59" y="2898648"/>
            <a:ext cx="144475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01722"/>
                </a:solidFill>
                <a:latin typeface="Segoe UI"/>
              </a:rPr>
              <a:t>Converging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51192" y="2788920"/>
            <a:ext cx="162763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2631" y="2898648"/>
            <a:ext cx="144475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01722"/>
                </a:solidFill>
                <a:latin typeface="Segoe UI"/>
              </a:rPr>
              <a:t>Dispersing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0264" y="2788920"/>
            <a:ext cx="162763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61704" y="2898648"/>
            <a:ext cx="144475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101722"/>
                </a:solidFill>
                <a:latin typeface="Segoe UI"/>
              </a:rPr>
              <a:t>Constrained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89204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956048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900" b="0" i="0">
                <a:solidFill>
                  <a:srgbClr val="8A93A3"/>
                </a:solidFill>
                <a:latin typeface="Consolas"/>
              </a:rPr>
              <a:t>stream A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900" b="0" i="0">
                <a:solidFill>
                  <a:srgbClr val="8A93A3"/>
                </a:solidFill>
                <a:latin typeface="Consolas"/>
              </a:rPr>
              <a:t>stream B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900" b="0" i="0">
                <a:solidFill>
                  <a:srgbClr val="8A93A3"/>
                </a:solidFill>
                <a:latin typeface="Consolas"/>
              </a:rPr>
              <a:t>stream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349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515C6E"/>
                </a:solidFill>
                <a:latin typeface="Segoe UI"/>
              </a:rPr>
              <a:t>accumulation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349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515C6E"/>
                </a:solidFill>
                <a:latin typeface="Segoe UI"/>
              </a:rPr>
              <a:t>compression 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5074920"/>
            <a:ext cx="2194560" cy="68580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51937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DC2626"/>
                </a:solidFill>
                <a:latin typeface="Bahnschrift"/>
              </a:rPr>
              <a:t>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080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01722"/>
                </a:solidFill>
                <a:latin typeface="Bahnschrift"/>
              </a:rPr>
              <a:t>Same head-count, different spatial context and flow → different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TARGET USERS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93A3"/>
                </a:solidFill>
                <a:latin typeface="Consolas"/>
              </a:rPr>
              <a:t>03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66928"/>
            <a:ext cx="256032" cy="18288"/>
          </a:xfrm>
          <a:prstGeom prst="roundRect">
            <a:avLst>
              <a:gd name="adj" fmla="val 6000"/>
            </a:avLst>
          </a:prstGeom>
          <a:solidFill>
            <a:srgbClr val="0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101722"/>
                </a:solidFill>
                <a:latin typeface="Bahnschrift"/>
              </a:rPr>
              <a:t>One Crowd, Multiple Stakeholder Perspectives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1031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728216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57400"/>
            <a:ext cx="182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101722"/>
                </a:solidFill>
                <a:latin typeface="Bahnschrift"/>
              </a:rPr>
              <a:t>Police /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743200"/>
            <a:ext cx="182879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Crowd control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Escalation points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Bottlenecks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Volatile zones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600200"/>
            <a:ext cx="21031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1728216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9504" y="2057400"/>
            <a:ext cx="182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101722"/>
                </a:solidFill>
                <a:latin typeface="Bahnschrift"/>
              </a:rPr>
              <a:t>Rescue / Fire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743200"/>
            <a:ext cx="182879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Incident location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Blocked routes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Fallen-person alerts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Evacuation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79" y="1600200"/>
            <a:ext cx="21031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3" y="1728216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3" y="2057400"/>
            <a:ext cx="182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101722"/>
                </a:solidFill>
                <a:latin typeface="Bahnschrift"/>
              </a:rPr>
              <a:t>Event / Religious Organizer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3" y="2743200"/>
            <a:ext cx="182879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Entry / exit flow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Queue build-up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Capacity limits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Accumulation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59" y="1600200"/>
            <a:ext cx="21031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3" y="1728216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3" y="2057400"/>
            <a:ext cx="182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101722"/>
                </a:solidFill>
                <a:latin typeface="Bahnschrift"/>
              </a:rPr>
              <a:t>Administration /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3" y="2743200"/>
            <a:ext cx="182879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Overall risk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Incident overview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Resource allocation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Emergency coordination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1600200"/>
            <a:ext cx="21031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4" y="1728216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4" y="2057400"/>
            <a:ext cx="18287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101722"/>
                </a:solidFill>
                <a:latin typeface="Bahnschrift"/>
              </a:rPr>
              <a:t>Public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2743200"/>
            <a:ext cx="182879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Safe zones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Unsafe zones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Evacuation direction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— Emergency info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40680"/>
            <a:ext cx="11155680" cy="822960"/>
          </a:xfrm>
          <a:prstGeom prst="roundRect">
            <a:avLst>
              <a:gd name="adj" fmla="val 6000"/>
            </a:avLst>
          </a:prstGeom>
          <a:solidFill>
            <a:srgbClr val="E4F3F5"/>
          </a:solidFill>
          <a:ln w="15875">
            <a:solidFill>
              <a:srgbClr val="0B7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9612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01722"/>
                </a:solidFill>
                <a:latin typeface="Bahnschrift"/>
              </a:rPr>
              <a:t>The same crowd intelligence must be </a:t>
            </a:r>
            <a:r>
              <a:rPr sz="1500" b="1" i="0">
                <a:solidFill>
                  <a:srgbClr val="0B7485"/>
                </a:solidFill>
                <a:latin typeface="Bahnschrift"/>
              </a:rPr>
              <a:t>presented differently</a:t>
            </a:r>
            <a:r>
              <a:rPr sz="1500" b="1" i="0">
                <a:solidFill>
                  <a:srgbClr val="101722"/>
                </a:solidFill>
                <a:latin typeface="Bahnschrift"/>
              </a:rPr>
              <a:t> depending on who is responsible for the next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HACKATHON REQUIREMENT → SOLUTION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93A3"/>
                </a:solidFill>
                <a:latin typeface="Consolas"/>
              </a:rPr>
              <a:t>04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66928"/>
            <a:ext cx="256032" cy="18288"/>
          </a:xfrm>
          <a:prstGeom prst="roundRect">
            <a:avLst>
              <a:gd name="adj" fmla="val 6000"/>
            </a:avLst>
          </a:prstGeom>
          <a:solidFill>
            <a:srgbClr val="0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101722"/>
                </a:solidFill>
                <a:latin typeface="Bahnschrift"/>
              </a:rPr>
              <a:t>Requirement-to-Solution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515C6E"/>
                </a:solidFill>
                <a:latin typeface="Segoe UI"/>
              </a:rPr>
              <a:t>Requirements as documented in CROWDLENS's own problem framing (README / project docs) — mapped before anything was built.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Implemented — running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Partial — verified prototype, not wired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Designed / Planned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11155680" cy="306324"/>
          </a:xfrm>
          <a:prstGeom prst="rect">
            <a:avLst/>
          </a:prstGeom>
          <a:solidFill>
            <a:srgbClr val="F0F3F8"/>
          </a:solidFill>
          <a:ln w="9525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203704"/>
            <a:ext cx="4023360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515C6E"/>
                </a:solidFill>
                <a:latin typeface="Consolas"/>
              </a:rPr>
              <a:t>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03704"/>
            <a:ext cx="704087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730" b="1" i="0">
                <a:solidFill>
                  <a:srgbClr val="515C6E"/>
                </a:solidFill>
                <a:latin typeface="Consolas"/>
              </a:rPr>
              <a:t>Ppl. 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7" y="2203704"/>
            <a:ext cx="704087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730" b="1" i="0">
                <a:solidFill>
                  <a:srgbClr val="515C6E"/>
                </a:solidFill>
                <a:latin typeface="Consolas"/>
              </a:rPr>
              <a:t>Anon.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5896" y="2203704"/>
            <a:ext cx="704087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730" b="1" i="0">
                <a:solidFill>
                  <a:srgbClr val="515C6E"/>
                </a:solidFill>
                <a:latin typeface="Consolas"/>
              </a:rPr>
              <a:t>Density/Occ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3" y="2203704"/>
            <a:ext cx="704087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730" b="1" i="0">
                <a:solidFill>
                  <a:srgbClr val="515C6E"/>
                </a:solidFill>
                <a:latin typeface="Consolas"/>
              </a:rPr>
              <a:t>Inflow/Out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2203704"/>
            <a:ext cx="704087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730" b="1" i="0">
                <a:solidFill>
                  <a:srgbClr val="515C6E"/>
                </a:solidFill>
                <a:latin typeface="Consolas"/>
              </a:rPr>
              <a:t>Crowd Dyn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203704"/>
            <a:ext cx="704087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730" b="1" i="0">
                <a:solidFill>
                  <a:srgbClr val="515C6E"/>
                </a:solidFill>
                <a:latin typeface="Consolas"/>
              </a:rPr>
              <a:t>Risk Pred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7" y="2203704"/>
            <a:ext cx="704087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730" b="1" i="0">
                <a:solidFill>
                  <a:srgbClr val="515C6E"/>
                </a:solidFill>
                <a:latin typeface="Consolas"/>
              </a:rPr>
              <a:t>Structural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2203704"/>
            <a:ext cx="704087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730" b="1" i="0">
                <a:solidFill>
                  <a:srgbClr val="515C6E"/>
                </a:solidFill>
                <a:latin typeface="Consolas"/>
              </a:rPr>
              <a:t>Evac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50424" y="2203704"/>
            <a:ext cx="704087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730" b="1" i="0">
                <a:solidFill>
                  <a:srgbClr val="515C6E"/>
                </a:solidFill>
                <a:latin typeface="Consolas"/>
              </a:rPr>
              <a:t>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4511" y="2203704"/>
            <a:ext cx="704087" cy="214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730" b="1" i="0">
                <a:solidFill>
                  <a:srgbClr val="515C6E"/>
                </a:solidFill>
                <a:latin typeface="Consolas"/>
              </a:rPr>
              <a:t>Privacy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455164"/>
            <a:ext cx="1115568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2505456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Detect &amp; count people from CCTV / video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500884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761488"/>
            <a:ext cx="11155680" cy="306324"/>
          </a:xfrm>
          <a:prstGeom prst="rect">
            <a:avLst/>
          </a:prstGeom>
          <a:solidFill>
            <a:srgbClr val="F0F3F8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2811780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Anonymous tracking — never identify individuals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7" y="2807208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47B0E"/>
                </a:solidFill>
                <a:latin typeface="Consolas"/>
              </a:rPr>
              <a:t>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4511" y="2807208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067812"/>
            <a:ext cx="1115568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3118104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Crowd density &amp; per-zone occupancy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5896" y="3113532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374136"/>
            <a:ext cx="11155680" cy="306324"/>
          </a:xfrm>
          <a:prstGeom prst="rect">
            <a:avLst/>
          </a:prstGeom>
          <a:solidFill>
            <a:srgbClr val="F0F3F8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424428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Inflow / outflow &amp; flow-imbalance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3" y="3419856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47B0E"/>
                </a:solidFill>
                <a:latin typeface="Consolas"/>
              </a:rPr>
              <a:t>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680460"/>
            <a:ext cx="1115568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3730752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Crowd dynamics — compression, bottleneck, reverse-flow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3" y="3726180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47B0E"/>
                </a:solidFill>
                <a:latin typeface="Consolas"/>
              </a:rPr>
              <a:t>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4071" y="3726180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986784"/>
            <a:ext cx="11155680" cy="306324"/>
          </a:xfrm>
          <a:prstGeom prst="rect">
            <a:avLst/>
          </a:prstGeom>
          <a:solidFill>
            <a:srgbClr val="F0F3F8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4037076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Real-time 0–100 risk scoring, 5-band 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59" y="4032504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293108"/>
            <a:ext cx="1115568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4343400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Predictive early warning — forecast, time-to-critical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59" y="4338828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47B0E"/>
                </a:solidFill>
                <a:latin typeface="Consolas"/>
              </a:rPr>
              <a:t>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599432"/>
            <a:ext cx="11155680" cy="306324"/>
          </a:xfrm>
          <a:prstGeom prst="rect">
            <a:avLst/>
          </a:prstGeom>
          <a:solidFill>
            <a:srgbClr val="F0F3F8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4649724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Structural / physical-load risk indicator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42247" y="4645152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47B0E"/>
                </a:solidFill>
                <a:latin typeface="Consolas"/>
              </a:rPr>
              <a:t>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905756"/>
            <a:ext cx="1115568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4956048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Evacuation &amp; rescue-route guidance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46336" y="4951476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9AA3B2"/>
                </a:solidFill>
                <a:latin typeface="Consolas"/>
              </a:rPr>
              <a:t>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212080"/>
            <a:ext cx="11155680" cy="306324"/>
          </a:xfrm>
          <a:prstGeom prst="rect">
            <a:avLst/>
          </a:prstGeom>
          <a:solidFill>
            <a:srgbClr val="F0F3F8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" y="5262372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Human-in-the-loop alerting, action &amp; audit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50424" y="5257800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54511" y="5257800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518404"/>
            <a:ext cx="11155680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" y="5568696"/>
            <a:ext cx="3968496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80" b="0" i="0">
                <a:solidFill>
                  <a:srgbClr val="101722"/>
                </a:solidFill>
                <a:latin typeface="Segoe UI"/>
              </a:rPr>
              <a:t>Multi-camera / multi-zone coverage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25896" y="5564124"/>
            <a:ext cx="704087" cy="233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47B0E"/>
                </a:solidFill>
                <a:latin typeface="Consolas"/>
              </a:rPr>
              <a:t>◑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5961888"/>
            <a:ext cx="11155680" cy="548640"/>
          </a:xfrm>
          <a:prstGeom prst="roundRect">
            <a:avLst>
              <a:gd name="adj" fmla="val 6000"/>
            </a:avLst>
          </a:prstGeom>
          <a:solidFill>
            <a:srgbClr val="E4F3F5"/>
          </a:solidFill>
          <a:ln w="12700">
            <a:solidFill>
              <a:srgbClr val="0B7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60807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101722"/>
                </a:solidFill>
                <a:latin typeface="Bahnschrift"/>
              </a:rPr>
              <a:t>We mapped every requirement to a concrete capability </a:t>
            </a:r>
            <a:r>
              <a:rPr sz="1200" b="1" i="0">
                <a:solidFill>
                  <a:srgbClr val="0B7485"/>
                </a:solidFill>
                <a:latin typeface="Bahnschrift"/>
              </a:rPr>
              <a:t>before</a:t>
            </a:r>
            <a:r>
              <a:rPr sz="1200" b="1" i="0">
                <a:solidFill>
                  <a:srgbClr val="101722"/>
                </a:solidFill>
                <a:latin typeface="Bahnschrift"/>
              </a:rPr>
              <a:t> prioritizing what to build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CROWDLENS SOLUTION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93A3"/>
                </a:solidFill>
                <a:latin typeface="Consolas"/>
              </a:rPr>
              <a:t>05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66928"/>
            <a:ext cx="256032" cy="18288"/>
          </a:xfrm>
          <a:prstGeom prst="roundRect">
            <a:avLst>
              <a:gd name="adj" fmla="val 6000"/>
            </a:avLst>
          </a:prstGeom>
          <a:solidFill>
            <a:srgbClr val="0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101722"/>
                </a:solidFill>
                <a:latin typeface="Bahnschrift"/>
              </a:rPr>
              <a:t>CROWDLENS Solution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48716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2704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Crowd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92808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Density &amp; occupancy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Zone-level people counts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Multi-camera aggregation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9816" y="1417320"/>
            <a:ext cx="248716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52704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Crowd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1892808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Movement &amp; turbulence (optical flow)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Compression / spacing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Bottleneck &amp; reverse-flow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96712" y="1417320"/>
            <a:ext cx="248716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1304" y="152704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Early Warning &amp;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1892808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0–100 SRI, 5-band severity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Auto-alert on RED / BLACK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Contributing-factor ranking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93608" y="1417320"/>
            <a:ext cx="248716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2704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Predictive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892808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+N sec trend forecast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Time-to-critical estimate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Confidence scoring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9815"/>
            <a:ext cx="248716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209544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What-If / Preemptive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575303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Controlled evaluation replay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Entry-control simulation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Scenario timeline authoring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9816" y="3099815"/>
            <a:ext cx="248716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3209544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Command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3575303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Live control-room dashboard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Crowd video library &amp; search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System / detector health panel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96712" y="3099815"/>
            <a:ext cx="248716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1304" y="3209544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Rescue &amp; Evacuation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1304" y="3575303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Fallen-person heuristic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Incident location flagging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Dynamic evacuation routing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93608" y="3099815"/>
            <a:ext cx="248716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209544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Public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575303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Safe / unsafe zone display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Emergency information feed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782312"/>
            <a:ext cx="2487168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8920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Privacy &amp;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5257800"/>
            <a:ext cx="217627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No facial recognition, ephemeral IDs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Alert acknowledge history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Full incident audit timeline</a:t>
            </a:r>
          </a:p>
        </p:txBody>
      </p:sp>
      <p:pic>
        <p:nvPicPr>
          <p:cNvPr id="34" name="Picture 33" descr="control_room.jpg.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8" y="4782312"/>
            <a:ext cx="2487168" cy="1572768"/>
          </a:xfrm>
          <a:prstGeom prst="rect">
            <a:avLst/>
          </a:prstGeom>
          <a:ln w="12700">
            <a:solidFill>
              <a:srgbClr val="DBE1EB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8293608" y="6373367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750" b="0" i="1">
                <a:solidFill>
                  <a:srgbClr val="8A93A3"/>
                </a:solidFill>
                <a:latin typeface="Consolas"/>
              </a:rPr>
              <a:t>CCTV control room (illustrative)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93A3"/>
                </a:solidFill>
                <a:latin typeface="Consolas"/>
              </a:rPr>
              <a:t>06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66928"/>
            <a:ext cx="256032" cy="18288"/>
          </a:xfrm>
          <a:prstGeom prst="roundRect">
            <a:avLst>
              <a:gd name="adj" fmla="val 6000"/>
            </a:avLst>
          </a:prstGeom>
          <a:solidFill>
            <a:srgbClr val="0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101722"/>
                </a:solidFill>
                <a:latin typeface="Bahnschrift"/>
              </a:rPr>
              <a:t>From Multi-Source Video to Actionable Safety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36776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3A3"/>
                </a:solidFill>
                <a:latin typeface="Consolas"/>
              </a:rPr>
              <a:t>L1 ·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600200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0B7485"/>
                </a:solidFill>
                <a:latin typeface="Consolas"/>
              </a:rPr>
              <a:t>✓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Recorded / uploaded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776" y="1600200"/>
            <a:ext cx="12362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9AA3B2"/>
                </a:solidFill>
                <a:latin typeface="Consolas"/>
              </a:rPr>
              <a:t>○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Live CCTV / RTSP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1340" y="1600200"/>
            <a:ext cx="841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9AA3B2"/>
                </a:solidFill>
                <a:latin typeface="Consolas"/>
              </a:rPr>
              <a:t>○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Drone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4884" y="1600200"/>
            <a:ext cx="13679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9AA3B2"/>
                </a:solidFill>
                <a:latin typeface="Consolas"/>
              </a:rPr>
              <a:t>○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Multi-camera array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30552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5000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3A3"/>
                </a:solidFill>
                <a:latin typeface="Consolas"/>
              </a:rPr>
              <a:t>L2 ·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13432"/>
            <a:ext cx="34088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9AA3B2"/>
                </a:solidFill>
                <a:latin typeface="Consolas"/>
              </a:rPr>
              <a:t>○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Time frame of reference — sync feeds by timestamp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2859" y="2313432"/>
            <a:ext cx="3869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9AA3B2"/>
                </a:solidFill>
                <a:latin typeface="Consolas"/>
              </a:rPr>
              <a:t>○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Spatial frame of reference — camera pose &amp; zone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43784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6324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3A3"/>
                </a:solidFill>
                <a:latin typeface="Consolas"/>
              </a:rPr>
              <a:t>L3 · PERCEPTION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026664"/>
            <a:ext cx="12362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0B7485"/>
                </a:solidFill>
                <a:latin typeface="Consolas"/>
              </a:rPr>
              <a:t>✓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Person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0244" y="3026664"/>
            <a:ext cx="13679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B47B0E"/>
                </a:solidFill>
                <a:latin typeface="Consolas"/>
              </a:rPr>
              <a:t>◑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Anonymous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0483" y="3026664"/>
            <a:ext cx="1170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9AA3B2"/>
                </a:solidFill>
                <a:latin typeface="Consolas"/>
              </a:rPr>
              <a:t>○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Pose estimation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3211" y="3026664"/>
            <a:ext cx="97292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0B7485"/>
                </a:solidFill>
                <a:latin typeface="Consolas"/>
              </a:rPr>
              <a:t>✓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Optical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57016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7647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3A3"/>
                </a:solidFill>
                <a:latin typeface="Consolas"/>
              </a:rPr>
              <a:t>L4 · CROWD INTEL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739896"/>
            <a:ext cx="5797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19" b="1" i="0">
                <a:solidFill>
                  <a:srgbClr val="0B7485"/>
                </a:solidFill>
                <a:latin typeface="Consolas"/>
              </a:rPr>
              <a:t>✓ </a:t>
            </a:r>
            <a:r>
              <a:rPr sz="819" b="0" i="0">
                <a:solidFill>
                  <a:srgbClr val="515C6E"/>
                </a:solidFill>
                <a:latin typeface="Segoe UI"/>
              </a:rPr>
              <a:t>Density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3705" y="3739896"/>
            <a:ext cx="6931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19" b="1" i="0">
                <a:solidFill>
                  <a:srgbClr val="0B7485"/>
                </a:solidFill>
                <a:latin typeface="Consolas"/>
              </a:rPr>
              <a:t>✓ </a:t>
            </a:r>
            <a:r>
              <a:rPr sz="819" b="0" i="0">
                <a:solidFill>
                  <a:srgbClr val="515C6E"/>
                </a:solidFill>
                <a:latin typeface="Segoe UI"/>
              </a:rPr>
              <a:t>Occupancy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9116" y="3739896"/>
            <a:ext cx="8631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19" b="1" i="0">
                <a:solidFill>
                  <a:srgbClr val="9AA3B2"/>
                </a:solidFill>
                <a:latin typeface="Consolas"/>
              </a:rPr>
              <a:t>○ </a:t>
            </a:r>
            <a:r>
              <a:rPr sz="819" b="0" i="0">
                <a:solidFill>
                  <a:srgbClr val="515C6E"/>
                </a:solidFill>
                <a:latin typeface="Segoe UI"/>
              </a:rPr>
              <a:t>Demographics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4606" y="3739896"/>
            <a:ext cx="5230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19" b="1" i="0">
                <a:solidFill>
                  <a:srgbClr val="B47B0E"/>
                </a:solidFill>
                <a:latin typeface="Consolas"/>
              </a:rPr>
              <a:t>◑ </a:t>
            </a:r>
            <a:r>
              <a:rPr sz="819" b="0" i="0">
                <a:solidFill>
                  <a:srgbClr val="515C6E"/>
                </a:solidFill>
                <a:latin typeface="Segoe UI"/>
              </a:rPr>
              <a:t>Inflow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9939" y="3739896"/>
            <a:ext cx="5797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19" b="1" i="0">
                <a:solidFill>
                  <a:srgbClr val="B47B0E"/>
                </a:solidFill>
                <a:latin typeface="Consolas"/>
              </a:rPr>
              <a:t>◑ </a:t>
            </a:r>
            <a:r>
              <a:rPr sz="819" b="0" i="0">
                <a:solidFill>
                  <a:srgbClr val="515C6E"/>
                </a:solidFill>
                <a:latin typeface="Segoe UI"/>
              </a:rPr>
              <a:t>Outflow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1964" y="3739896"/>
            <a:ext cx="8631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19" b="1" i="0">
                <a:solidFill>
                  <a:srgbClr val="0B7485"/>
                </a:solidFill>
                <a:latin typeface="Consolas"/>
              </a:rPr>
              <a:t>✓ </a:t>
            </a:r>
            <a:r>
              <a:rPr sz="819" b="0" i="0">
                <a:solidFill>
                  <a:srgbClr val="515C6E"/>
                </a:solidFill>
                <a:latin typeface="Segoe UI"/>
              </a:rPr>
              <a:t>Accumulation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7454" y="3739896"/>
            <a:ext cx="806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19" b="1" i="0">
                <a:solidFill>
                  <a:srgbClr val="0B7485"/>
                </a:solidFill>
                <a:latin typeface="Consolas"/>
              </a:rPr>
              <a:t>✓ </a:t>
            </a:r>
            <a:r>
              <a:rPr sz="819" b="0" i="0">
                <a:solidFill>
                  <a:srgbClr val="515C6E"/>
                </a:solidFill>
                <a:latin typeface="Segoe UI"/>
              </a:rPr>
              <a:t>Compression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6251" y="3739896"/>
            <a:ext cx="6931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19" b="1" i="0">
                <a:solidFill>
                  <a:srgbClr val="B47B0E"/>
                </a:solidFill>
                <a:latin typeface="Consolas"/>
              </a:rPr>
              <a:t>◑ </a:t>
            </a:r>
            <a:r>
              <a:rPr sz="819" b="0" i="0">
                <a:solidFill>
                  <a:srgbClr val="515C6E"/>
                </a:solidFill>
                <a:latin typeface="Segoe UI"/>
              </a:rPr>
              <a:t>Direction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1662" y="3739896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19" b="1" i="0">
                <a:solidFill>
                  <a:srgbClr val="B47B0E"/>
                </a:solidFill>
                <a:latin typeface="Consolas"/>
              </a:rPr>
              <a:t>◑ </a:t>
            </a:r>
            <a:r>
              <a:rPr sz="819" b="0" i="0">
                <a:solidFill>
                  <a:srgbClr val="515C6E"/>
                </a:solidFill>
                <a:latin typeface="Segoe UI"/>
              </a:rPr>
              <a:t>Bottleneck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3766" y="3739896"/>
            <a:ext cx="9198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19" b="1" i="0">
                <a:solidFill>
                  <a:srgbClr val="B47B0E"/>
                </a:solidFill>
                <a:latin typeface="Consolas"/>
              </a:rPr>
              <a:t>◑ </a:t>
            </a:r>
            <a:r>
              <a:rPr sz="819" b="0" i="0">
                <a:solidFill>
                  <a:srgbClr val="515C6E"/>
                </a:solidFill>
                <a:latin typeface="Segoe UI"/>
              </a:rPr>
              <a:t>Edge pressure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270248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8970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3A3"/>
                </a:solidFill>
                <a:latin typeface="Consolas"/>
              </a:rPr>
              <a:t>L5 ·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453128"/>
            <a:ext cx="9070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0B7485"/>
                </a:solidFill>
                <a:latin typeface="Consolas"/>
              </a:rPr>
              <a:t>✓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Descriptive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1060" y="4453128"/>
            <a:ext cx="841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B47B0E"/>
                </a:solidFill>
                <a:latin typeface="Consolas"/>
              </a:rPr>
              <a:t>◑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Predictive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4604" y="4453128"/>
            <a:ext cx="14996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B47B0E"/>
                </a:solidFill>
                <a:latin typeface="Consolas"/>
              </a:rPr>
              <a:t>◑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Preemptive / what-if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6516" y="4453128"/>
            <a:ext cx="97292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B47B0E"/>
                </a:solidFill>
                <a:latin typeface="Consolas"/>
              </a:rPr>
              <a:t>◑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Prescriptive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983480"/>
            <a:ext cx="11155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02936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8A93A3"/>
                </a:solidFill>
                <a:latin typeface="Consolas"/>
              </a:rPr>
              <a:t>L6 ·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166360"/>
            <a:ext cx="5779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0B7485"/>
                </a:solidFill>
                <a:latin typeface="Consolas"/>
              </a:rPr>
              <a:t>✓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Alerts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71876" y="5166360"/>
            <a:ext cx="11045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0B7485"/>
                </a:solidFill>
                <a:latin typeface="Consolas"/>
              </a:rPr>
              <a:t>✓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Command center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58768" y="5166360"/>
            <a:ext cx="5779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9AA3B2"/>
                </a:solidFill>
                <a:latin typeface="Consolas"/>
              </a:rPr>
              <a:t>○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Rescue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8964" y="5166360"/>
            <a:ext cx="841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9AA3B2"/>
                </a:solidFill>
                <a:latin typeface="Consolas"/>
              </a:rPr>
              <a:t>○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Evacuation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2508" y="5166360"/>
            <a:ext cx="10387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9AA3B2"/>
                </a:solidFill>
                <a:latin typeface="Consolas"/>
              </a:rPr>
              <a:t>○ 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Public safety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751576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E4F3F5"/>
          </a:solidFill>
          <a:ln w="15875">
            <a:solidFill>
              <a:srgbClr val="0B7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843016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101722"/>
                </a:solidFill>
                <a:latin typeface="Bahnschrift"/>
              </a:rPr>
              <a:t>Time framing and spatial/camera-angle framing are the </a:t>
            </a:r>
            <a:r>
              <a:rPr sz="1100" b="1" i="0">
                <a:solidFill>
                  <a:srgbClr val="0B7485"/>
                </a:solidFill>
                <a:latin typeface="Bahnschrift"/>
              </a:rPr>
              <a:t>foundation</a:t>
            </a:r>
            <a:r>
              <a:rPr sz="1100" b="0" i="0">
                <a:solidFill>
                  <a:srgbClr val="101722"/>
                </a:solidFill>
                <a:latin typeface="Segoe UI"/>
              </a:rPr>
              <a:t> for trustworthy multi-camera analytics — not needed yet for a single feed, mandatory the moment a second camera joins.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CROWD DYNAMICS &amp; BEHAVIOURAL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93A3"/>
                </a:solidFill>
                <a:latin typeface="Consolas"/>
              </a:rPr>
              <a:t>07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66928"/>
            <a:ext cx="256032" cy="18288"/>
          </a:xfrm>
          <a:prstGeom prst="roundRect">
            <a:avLst>
              <a:gd name="adj" fmla="val 6000"/>
            </a:avLst>
          </a:prstGeom>
          <a:solidFill>
            <a:srgbClr val="0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101722"/>
                </a:solidFill>
                <a:latin typeface="Bahnschrift"/>
              </a:rPr>
              <a:t>Understanding How the Crowd Behaves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15C6E"/>
                </a:solidFill>
                <a:latin typeface="Consolas"/>
              </a:rPr>
              <a:t>MEASURABLE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Density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Occupancy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Accumulation rate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Velocity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Interpersonal distance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Compression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Inflow / outflow rate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Direction entropy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Reverse-flow ratio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Bottleneck / edge-pressure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1050" b="0" i="0">
                <a:solidFill>
                  <a:srgbClr val="515C6E"/>
                </a:solidFill>
                <a:latin typeface="Segoe UI"/>
              </a:rPr>
              <a:t>Flow 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15C6E"/>
                </a:solidFill>
                <a:latin typeface="Consolas"/>
              </a:rPr>
              <a:t>DEMOGRAPHIC PROFILE — aggregate, zone-level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1663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515C6E"/>
                </a:solidFill>
                <a:latin typeface="Segoe UI"/>
              </a:rPr>
              <a:t>Age groups · children / adults / elderly · group composition  </a:t>
            </a:r>
            <a:r>
              <a:rPr sz="1000" b="1" i="0">
                <a:solidFill>
                  <a:srgbClr val="9AA3B2"/>
                </a:solidFill>
                <a:latin typeface="Consolas"/>
              </a:rPr>
              <a:t>○ Planned — never linked to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417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15C6E"/>
                </a:solidFill>
                <a:latin typeface="Consolas"/>
              </a:rPr>
              <a:t>DYNAMIC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691640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0" i="0">
                <a:solidFill>
                  <a:srgbClr val="515C6E"/>
                </a:solidFill>
                <a:latin typeface="Segoe UI"/>
              </a:rPr>
              <a:t>A rule-based classifier scores compression + turbulence + reverse-flow into four coarse states today (</a:t>
            </a:r>
            <a:r>
              <a:rPr sz="950" b="1" i="0">
                <a:solidFill>
                  <a:srgbClr val="B47B0E"/>
                </a:solidFill>
                <a:latin typeface="Consolas"/>
              </a:rPr>
              <a:t>◑ prototype</a:t>
            </a:r>
            <a:r>
              <a:rPr sz="950" b="0" i="0">
                <a:solidFill>
                  <a:srgbClr val="515C6E"/>
                </a:solidFill>
                <a:latin typeface="Segoe UI"/>
              </a:rPr>
              <a:t>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331720"/>
            <a:ext cx="1691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45973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01722"/>
                </a:solidFill>
                <a:latin typeface="Segoe UI"/>
              </a:rPr>
              <a:t>Stationary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5234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≈ PASSIVE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331720"/>
            <a:ext cx="1691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45973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01722"/>
                </a:solidFill>
                <a:latin typeface="Segoe UI"/>
              </a:rPr>
              <a:t>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75234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≈ ACTIVE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331720"/>
            <a:ext cx="1691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45973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01722"/>
                </a:solidFill>
                <a:latin typeface="Segoe UI"/>
              </a:rPr>
              <a:t>Disturbed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75234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◑ signal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3200400"/>
            <a:ext cx="1691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32841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01722"/>
                </a:solidFill>
                <a:latin typeface="Segoe UI"/>
              </a:rPr>
              <a:t>Volatile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6210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≈ VOLATILE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3200400"/>
            <a:ext cx="1691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332841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01722"/>
                </a:solidFill>
                <a:latin typeface="Segoe UI"/>
              </a:rPr>
              <a:t>Reverse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6210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◑ ratio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3200400"/>
            <a:ext cx="1691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332841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01722"/>
                </a:solidFill>
                <a:latin typeface="Segoe UI"/>
              </a:rPr>
              <a:t>Stop-Wave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6210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8A93A3"/>
                </a:solidFill>
                <a:latin typeface="Consolas"/>
              </a:rPr>
              <a:t>○ planned</a:t>
            </a:r>
          </a:p>
        </p:txBody>
      </p:sp>
      <p:pic>
        <p:nvPicPr>
          <p:cNvPr id="31" name="Picture 30" descr="stadium.jpg.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160520"/>
            <a:ext cx="2606040" cy="1691640"/>
          </a:xfrm>
          <a:prstGeom prst="rect">
            <a:avLst/>
          </a:prstGeom>
          <a:ln w="12700">
            <a:solidFill>
              <a:srgbClr val="DBE1EB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5943600" y="5870448"/>
            <a:ext cx="2606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750" b="0" i="1">
                <a:solidFill>
                  <a:srgbClr val="8A93A3"/>
                </a:solidFill>
                <a:latin typeface="Consolas"/>
              </a:rPr>
              <a:t>Dense stadium crowd (illustrative)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4160520"/>
            <a:ext cx="2880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425196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50" b="1" i="0">
                <a:solidFill>
                  <a:srgbClr val="0B7485"/>
                </a:solidFill>
                <a:latin typeface="Consolas"/>
              </a:rPr>
              <a:t>Illustrative example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526280"/>
            <a:ext cx="2651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50" b="0" i="0">
                <a:solidFill>
                  <a:srgbClr val="101722"/>
                </a:solidFill>
                <a:latin typeface="Segoe UI"/>
              </a:rPr>
              <a:t>Inflow 60/min &gt; Outflow 30/min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50" b="0" i="0">
                <a:solidFill>
                  <a:srgbClr val="101722"/>
                </a:solidFill>
                <a:latin typeface="Segoe UI"/>
              </a:rPr>
              <a:t>→ accumulation → density ↑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50" b="1" i="0">
                <a:solidFill>
                  <a:srgbClr val="DC2626"/>
                </a:solidFill>
                <a:latin typeface="Segoe UI"/>
              </a:rPr>
              <a:t>→ compression ↑ → risk escalating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ANALYTICS SPECTRUM &amp; EARLY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93A3"/>
                </a:solidFill>
                <a:latin typeface="Consolas"/>
              </a:rPr>
              <a:t>08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66928"/>
            <a:ext cx="256032" cy="18288"/>
          </a:xfrm>
          <a:prstGeom prst="roundRect">
            <a:avLst>
              <a:gd name="adj" fmla="val 6000"/>
            </a:avLst>
          </a:prstGeom>
          <a:solidFill>
            <a:srgbClr val="0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101722"/>
                </a:solidFill>
                <a:latin typeface="Bahnschrift"/>
              </a:rPr>
              <a:t>From Seeing the Crowd to Deciding What to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6974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72768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0B7485"/>
                </a:solidFill>
                <a:latin typeface="Consolas"/>
              </a:rPr>
              <a:t>✓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1051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Descriptive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08483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1">
                <a:solidFill>
                  <a:srgbClr val="8A93A3"/>
                </a:solidFill>
                <a:latin typeface="Segoe UI"/>
              </a:rPr>
              <a:t>“What is happening now?”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37744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15C6E"/>
                </a:solidFill>
                <a:latin typeface="Segoe UI"/>
              </a:rPr>
              <a:t>Density, occupancy, flow, headcount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463040"/>
            <a:ext cx="26974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572768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B47B0E"/>
                </a:solidFill>
                <a:latin typeface="Consolas"/>
              </a:rPr>
              <a:t>◑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81051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Predictive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08483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1">
                <a:solidFill>
                  <a:srgbClr val="8A93A3"/>
                </a:solidFill>
                <a:latin typeface="Segoe UI"/>
              </a:rPr>
              <a:t>“What is likely to happen?”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37744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15C6E"/>
                </a:solidFill>
                <a:latin typeface="Segoe UI"/>
              </a:rPr>
              <a:t>Risk forecast, time-to-critical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463040"/>
            <a:ext cx="26974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72768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B47B0E"/>
                </a:solidFill>
                <a:latin typeface="Consolas"/>
              </a:rPr>
              <a:t>◑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1051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Preemptive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8483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1">
                <a:solidFill>
                  <a:srgbClr val="8A93A3"/>
                </a:solidFill>
                <a:latin typeface="Segoe UI"/>
              </a:rPr>
              <a:t>“What can we do before it happens?”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37744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15C6E"/>
                </a:solidFill>
                <a:latin typeface="Segoe UI"/>
              </a:rPr>
              <a:t>What-if scenarios, entry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1463040"/>
            <a:ext cx="26974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1572768"/>
            <a:ext cx="2423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1" i="0">
                <a:solidFill>
                  <a:srgbClr val="9AA3B2"/>
                </a:solidFill>
                <a:latin typeface="Consolas"/>
              </a:rPr>
              <a:t>○ Planned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181051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Prescriptive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208483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1">
                <a:solidFill>
                  <a:srgbClr val="8A93A3"/>
                </a:solidFill>
                <a:latin typeface="Segoe UI"/>
              </a:rPr>
              <a:t>“What should we do?”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237744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15C6E"/>
                </a:solidFill>
                <a:latin typeface="Segoe UI"/>
              </a:rPr>
              <a:t>Evacuation route, resource recommendation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0040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515C6E"/>
                </a:solidFill>
                <a:latin typeface="Consolas"/>
              </a:rPr>
              <a:t>EARLY WARNING SIGNAL TYPES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5204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1000" b="0" i="0">
                <a:solidFill>
                  <a:srgbClr val="515C6E"/>
                </a:solidFill>
                <a:latin typeface="Segoe UI"/>
              </a:rPr>
              <a:t>1. High Inflow–Low Outflow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5204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00" b="0" i="0">
                <a:solidFill>
                  <a:srgbClr val="515C6E"/>
                </a:solidFill>
                <a:latin typeface="Segoe UI"/>
              </a:rPr>
              <a:t>2. Rapid Accumulation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8313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00" b="0" i="0">
                <a:solidFill>
                  <a:srgbClr val="515C6E"/>
                </a:solidFill>
                <a:latin typeface="Segoe UI"/>
              </a:rPr>
              <a:t>3. Critical Density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83133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1000" b="0" i="0">
                <a:solidFill>
                  <a:srgbClr val="515C6E"/>
                </a:solidFill>
                <a:latin typeface="Segoe UI"/>
              </a:rPr>
              <a:t>4. Bottleneck Congestion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422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1000" b="0" i="0">
                <a:solidFill>
                  <a:srgbClr val="515C6E"/>
                </a:solidFill>
                <a:latin typeface="Segoe UI"/>
              </a:rPr>
              <a:t>5. Flow Imbalance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1422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1000" b="0" i="0">
                <a:solidFill>
                  <a:srgbClr val="515C6E"/>
                </a:solidFill>
                <a:latin typeface="Segoe UI"/>
              </a:rPr>
              <a:t>6. Reverse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531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00" b="0" i="0">
                <a:solidFill>
                  <a:srgbClr val="515C6E"/>
                </a:solidFill>
                <a:latin typeface="Segoe UI"/>
              </a:rPr>
              <a:t>7. Compression 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4531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1000" b="0" i="0">
                <a:solidFill>
                  <a:srgbClr val="515C6E"/>
                </a:solidFill>
                <a:latin typeface="Segoe UI"/>
              </a:rPr>
              <a:t>8. Edge Pressure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7640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1000" b="0" i="0">
                <a:solidFill>
                  <a:srgbClr val="515C6E"/>
                </a:solidFill>
                <a:latin typeface="Segoe UI"/>
              </a:rPr>
              <a:t>9. Sudden Flow Disturbance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7640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1000" b="0" i="0">
                <a:solidFill>
                  <a:srgbClr val="515C6E"/>
                </a:solidFill>
                <a:latin typeface="Segoe UI"/>
              </a:rPr>
              <a:t>10. Fallen Person / Obstruction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3200400"/>
            <a:ext cx="4892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3291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 i="0">
                <a:solidFill>
                  <a:srgbClr val="101722"/>
                </a:solidFill>
                <a:latin typeface="Bahnschrift"/>
              </a:rPr>
              <a:t>Multiple signals → Risk Engine → SRI → Alert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6576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1">
                <a:solidFill>
                  <a:srgbClr val="8A93A3"/>
                </a:solidFill>
                <a:latin typeface="Segoe UI"/>
              </a:rPr>
              <a:t>(density, movement, build-up, compression)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49440" y="4114800"/>
            <a:ext cx="320040" cy="18288"/>
          </a:xfrm>
          <a:prstGeom prst="roundRect">
            <a:avLst>
              <a:gd name="adj" fmla="val 6000"/>
            </a:avLst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041648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515C6E"/>
                </a:solidFill>
                <a:latin typeface="Consolas"/>
              </a:rPr>
              <a:t>density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315200" y="4114800"/>
            <a:ext cx="1737360" cy="1234440"/>
          </a:xfrm>
          <a:prstGeom prst="line">
            <a:avLst/>
          </a:prstGeom>
          <a:ln w="9525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949440" y="4407408"/>
            <a:ext cx="320040" cy="18288"/>
          </a:xfrm>
          <a:prstGeom prst="roundRect">
            <a:avLst>
              <a:gd name="adj" fmla="val 6000"/>
            </a:avLst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433425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515C6E"/>
                </a:solidFill>
                <a:latin typeface="Consolas"/>
              </a:rPr>
              <a:t>movement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315200" y="4407408"/>
            <a:ext cx="1737360" cy="941832"/>
          </a:xfrm>
          <a:prstGeom prst="line">
            <a:avLst/>
          </a:prstGeom>
          <a:ln w="9525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949440" y="4700016"/>
            <a:ext cx="320040" cy="18288"/>
          </a:xfrm>
          <a:prstGeom prst="roundRect">
            <a:avLst>
              <a:gd name="adj" fmla="val 6000"/>
            </a:avLst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4626864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515C6E"/>
                </a:solidFill>
                <a:latin typeface="Consolas"/>
              </a:rPr>
              <a:t>build-up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315200" y="4700016"/>
            <a:ext cx="1737360" cy="649224"/>
          </a:xfrm>
          <a:prstGeom prst="line">
            <a:avLst/>
          </a:prstGeom>
          <a:ln w="9525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949440" y="4992624"/>
            <a:ext cx="320040" cy="18288"/>
          </a:xfrm>
          <a:prstGeom prst="roundRect">
            <a:avLst>
              <a:gd name="adj" fmla="val 6000"/>
            </a:avLst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491947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0">
                <a:solidFill>
                  <a:srgbClr val="515C6E"/>
                </a:solidFill>
                <a:latin typeface="Consolas"/>
              </a:rPr>
              <a:t>compression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315200" y="4992624"/>
            <a:ext cx="1737360" cy="356616"/>
          </a:xfrm>
          <a:prstGeom prst="line">
            <a:avLst/>
          </a:prstGeom>
          <a:ln w="9525">
            <a:solidFill>
              <a:srgbClr val="DB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098280" y="507492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 w="15875">
            <a:solidFill>
              <a:srgbClr val="0B7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523036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0B7485"/>
                </a:solidFill>
                <a:latin typeface="Bahnschrift"/>
              </a:rPr>
              <a:t>SRI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424160" y="5120640"/>
            <a:ext cx="1005840" cy="45720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24160" y="523036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DC2626"/>
                </a:solidFill>
                <a:latin typeface="Bahnschrift"/>
              </a:rPr>
              <a:t>Alert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5760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1">
                <a:solidFill>
                  <a:srgbClr val="8A93A3"/>
                </a:solidFill>
                <a:latin typeface="Segoe UI"/>
              </a:rPr>
              <a:t>No single signal predicts a crush on its own — the engine weighs several together.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IMPLEMENTATION, DEMO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93A3"/>
                </a:solidFill>
                <a:latin typeface="Consolas"/>
              </a:rPr>
              <a:t>09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66928"/>
            <a:ext cx="256032" cy="18288"/>
          </a:xfrm>
          <a:prstGeom prst="roundRect">
            <a:avLst>
              <a:gd name="adj" fmla="val 6000"/>
            </a:avLst>
          </a:prstGeom>
          <a:solidFill>
            <a:srgbClr val="0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101722"/>
                </a:solidFill>
                <a:latin typeface="Bahnschrift"/>
              </a:rPr>
              <a:t>What We Actually Built and How We Validate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B7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36192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A ·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74519"/>
            <a:ext cx="330098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Multi-format upload + video library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Real YOLOv8n detection (HOG fallback)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Density, optical-flow dynamics, compression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0–100 weighted risk score, 5-band severity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4 zone bands, per-zone risk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Auto-alerts on RED/BLACK + history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Live WebSocket dashboard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14/14 automated 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1732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47B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536192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B47B0E"/>
                </a:solidFill>
                <a:latin typeface="Consolas"/>
              </a:rPr>
              <a:t>B · PARTIALLY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874519"/>
            <a:ext cx="330098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BYTE-style anonymous tracker (standalone)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Bottleneck / reverse-flow / dynamics state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Predictive forecast + time-to-critical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Structural-load indicator endpoint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Incident escalate/resolve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141732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36192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9AA3B2"/>
                </a:solidFill>
                <a:latin typeface="Consolas"/>
              </a:rPr>
              <a:t>C · DESIGNED / FUTURE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874519"/>
            <a:ext cx="330098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Multi-camera time &amp; spatial fusion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Live RTSP / CCTV ingestion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Demographic / vulnerability profiling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Dynamic evacuation routing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Public-facing safe-zone display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30" b="0" i="0">
                <a:solidFill>
                  <a:srgbClr val="515C6E"/>
                </a:solidFill>
                <a:latin typeface="Segoe UI"/>
              </a:rPr>
              <a:t>— Interactive what-if scenario editor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34840"/>
            <a:ext cx="111556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63440"/>
            <a:ext cx="15022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101722"/>
                </a:solidFill>
                <a:latin typeface="Segoe UI"/>
              </a:rPr>
              <a:t>Uploaded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6548" y="46634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6588" y="4663440"/>
            <a:ext cx="15022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101722"/>
                </a:solidFill>
                <a:latin typeface="Segoe UI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0217" y="46634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0257" y="4663440"/>
            <a:ext cx="15022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101722"/>
                </a:solidFill>
                <a:latin typeface="Segoe UI"/>
              </a:rPr>
              <a:t>Density+Dynamics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3885" y="46634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925" y="4663440"/>
            <a:ext cx="15022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101722"/>
                </a:solidFill>
                <a:latin typeface="Segoe UI"/>
              </a:rPr>
              <a:t>Risk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7554" y="46634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7594" y="4663440"/>
            <a:ext cx="15022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101722"/>
                </a:solidFill>
                <a:latin typeface="Segoe UI"/>
              </a:rPr>
              <a:t>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1222" y="46634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1262" y="4663440"/>
            <a:ext cx="15022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1" i="0">
                <a:solidFill>
                  <a:srgbClr val="101722"/>
                </a:solidFill>
                <a:latin typeface="Segoe UI"/>
              </a:rPr>
              <a:t>Operator 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4891" y="46634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8A93A3"/>
                </a:solidFill>
                <a:latin typeface="Segoe U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4931" y="4663440"/>
            <a:ext cx="15022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8A93A3"/>
                </a:solidFill>
                <a:latin typeface="Segoe UI"/>
              </a:rPr>
              <a:t>Evacuation 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292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50" b="0" i="1">
                <a:solidFill>
                  <a:srgbClr val="8A93A3"/>
                </a:solidFill>
                <a:latin typeface="Segoe UI"/>
              </a:rPr>
              <a:t>Actual single-feed demo path. Multi-camera fusion is designed / prototype / future enhancement, not built.</a:t>
            </a:r>
          </a:p>
        </p:txBody>
      </p:sp>
      <p:pic>
        <p:nvPicPr>
          <p:cNvPr id="31" name="Picture 30" descr="railway.jpg.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349240"/>
            <a:ext cx="2194560" cy="1051560"/>
          </a:xfrm>
          <a:prstGeom prst="rect">
            <a:avLst/>
          </a:prstGeom>
          <a:ln w="12700">
            <a:solidFill>
              <a:srgbClr val="DBE1EB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502920" y="6419088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700" b="0" i="1">
                <a:solidFill>
                  <a:srgbClr val="8A93A3"/>
                </a:solidFill>
                <a:latin typeface="Consolas"/>
              </a:rPr>
              <a:t>Uploaded-video source (illustrative)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5349240"/>
            <a:ext cx="8778240" cy="1234440"/>
          </a:xfrm>
          <a:prstGeom prst="roundRect">
            <a:avLst>
              <a:gd name="adj" fmla="val 6000"/>
            </a:avLst>
          </a:prstGeom>
          <a:solidFill>
            <a:srgbClr val="E4F3F5"/>
          </a:solidFill>
          <a:ln w="15875">
            <a:solidFill>
              <a:srgbClr val="0B7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40" y="544068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101722"/>
                </a:solidFill>
                <a:latin typeface="Segoe UI"/>
              </a:rPr>
              <a:t>Validation today = </a:t>
            </a:r>
            <a:r>
              <a:rPr sz="1050" b="1" i="0">
                <a:solidFill>
                  <a:srgbClr val="0B7485"/>
                </a:solidFill>
                <a:latin typeface="Bahnschrift"/>
              </a:rPr>
              <a:t>14/14 automated correctness tests</a:t>
            </a:r>
            <a:r>
              <a:rPr sz="1050" b="0" i="0">
                <a:solidFill>
                  <a:srgbClr val="101722"/>
                </a:solidFill>
                <a:latin typeface="Segoe UI"/>
              </a:rPr>
              <a:t> on the deterministic engines — not accuracy against ground-truth footage.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 i="0">
                <a:solidFill>
                  <a:srgbClr val="515C6E"/>
                </a:solidFill>
                <a:latin typeface="Consolas"/>
              </a:rPr>
              <a:t>The evaluation schema stores an explicit is_measured=False flag so target metrics can never display as measured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0B7485"/>
                </a:solidFill>
                <a:latin typeface="Consolas"/>
              </a:rPr>
              <a:t>INNOVATION, PRIVACY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8A93A3"/>
                </a:solidFill>
                <a:latin typeface="Consolas"/>
              </a:rPr>
              <a:t>10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66928"/>
            <a:ext cx="256032" cy="18288"/>
          </a:xfrm>
          <a:prstGeom prst="roundRect">
            <a:avLst>
              <a:gd name="adj" fmla="val 6000"/>
            </a:avLst>
          </a:prstGeom>
          <a:solidFill>
            <a:srgbClr val="0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101722"/>
                </a:solidFill>
                <a:latin typeface="Bahnschrift"/>
              </a:rPr>
              <a:t>From Reactive CCTV to Predictive Crowd Safety</a:t>
            </a:r>
          </a:p>
        </p:txBody>
      </p:sp>
      <p:pic>
        <p:nvPicPr>
          <p:cNvPr id="7" name="Picture 6" descr="stadium.jpg.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1554480"/>
          </a:xfrm>
          <a:prstGeom prst="rect">
            <a:avLst/>
          </a:prstGeom>
          <a:ln w="12700">
            <a:solidFill>
              <a:srgbClr val="DBE1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2990088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800" b="0" i="1">
                <a:solidFill>
                  <a:srgbClr val="8A93A3"/>
                </a:solidFill>
                <a:latin typeface="Consolas"/>
              </a:rPr>
              <a:t>Crowd density at scale — the exact condition CROWDLENS is built to read (illustrative)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3756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447288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Key 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794760"/>
            <a:ext cx="325526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Multi-camera temporal framing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Spatial camera framing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Crowd dynamics intelligence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Vulnerability profiling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Predictive risk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What-if analysis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9AA3B2"/>
                </a:solidFill>
                <a:latin typeface="Consolas"/>
              </a:rPr>
              <a:t>○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Crowd-aware evacuation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B47B0E"/>
                </a:solidFill>
                <a:latin typeface="Consolas"/>
              </a:rPr>
              <a:t>◑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Context-aware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3" y="333756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5" y="3447288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Privacy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5" y="3794760"/>
            <a:ext cx="325526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No facial recognition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Anonymous / ephemeral tracking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Aggregate zone analytics only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No persistent identity profiling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900" b="1" i="0">
                <a:solidFill>
                  <a:srgbClr val="0B7485"/>
                </a:solidFill>
                <a:latin typeface="Consolas"/>
              </a:rPr>
              <a:t>✓ 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Alert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333756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447288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01722"/>
                </a:solidFill>
                <a:latin typeface="Bahnschrift"/>
              </a:rPr>
              <a:t>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794760"/>
            <a:ext cx="3255264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69" b="0" i="0">
                <a:solidFill>
                  <a:srgbClr val="515C6E"/>
                </a:solidFill>
                <a:latin typeface="Segoe UI"/>
              </a:rPr>
              <a:t>— CCTV can't measure oxygen — asphyxia is a risk proxy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69" b="0" i="0">
                <a:solidFill>
                  <a:srgbClr val="515C6E"/>
                </a:solidFill>
                <a:latin typeface="Segoe UI"/>
              </a:rPr>
              <a:t>— Structural load is an estimate, not certification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69" b="0" i="0">
                <a:solidFill>
                  <a:srgbClr val="515C6E"/>
                </a:solidFill>
                <a:latin typeface="Segoe UI"/>
              </a:rPr>
              <a:t>— Prototype signals need real-world validation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69" b="0" i="0">
                <a:solidFill>
                  <a:srgbClr val="515C6E"/>
                </a:solidFill>
                <a:latin typeface="Segoe UI"/>
              </a:rPr>
              <a:t>— Demographic inference may carry bias — not built today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869" b="0" i="0">
                <a:solidFill>
                  <a:srgbClr val="515C6E"/>
                </a:solidFill>
                <a:latin typeface="Segoe UI"/>
              </a:rPr>
              <a:t>— Decision support only — never replaces trained staff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989320"/>
            <a:ext cx="11155680" cy="731520"/>
          </a:xfrm>
          <a:prstGeom prst="roundRect">
            <a:avLst>
              <a:gd name="adj" fmla="val 6000"/>
            </a:avLst>
          </a:prstGeom>
          <a:solidFill>
            <a:srgbClr val="E4F3F5"/>
          </a:solidFill>
          <a:ln w="15875">
            <a:solidFill>
              <a:srgbClr val="0B74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53328"/>
            <a:ext cx="78638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101722"/>
                </a:solidFill>
                <a:latin typeface="Bahnschrift"/>
              </a:rPr>
              <a:t>“We don't identify people. We identify crowd risk.” </a:t>
            </a:r>
            <a:r>
              <a:rPr sz="900" b="0" i="0">
                <a:solidFill>
                  <a:srgbClr val="515C6E"/>
                </a:solidFill>
                <a:latin typeface="Segoe UI"/>
              </a:rPr>
              <a:t>CROWDLENS transforms multiple passive video sources into time-aware, spatially-aware, predictive crowd-safety intelligence — helping responders understand what is happening, what may happen next, and what action can be taken before it becomes critical.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6053328"/>
            <a:ext cx="2788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00" b="1" i="0">
                <a:solidFill>
                  <a:srgbClr val="0B7485"/>
                </a:solidFill>
                <a:latin typeface="Consolas"/>
              </a:rPr>
              <a:t>VISION STATEMENT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780" b="0" i="0">
                <a:solidFill>
                  <a:srgbClr val="8A93A3"/>
                </a:solidFill>
                <a:latin typeface="Consolas"/>
              </a:rPr>
              <a:t>Built today: detection, density, dynamics, risk scoring. Designed next: multi-camera fusion, prediction, evacuation.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